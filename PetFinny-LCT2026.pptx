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ff7f6682c34608" /><Relationship Type="http://schemas.openxmlformats.org/officeDocument/2006/relationships/extended-properties" Target="/docProps/app.xml" Id="R1aa2ae4b9b144003" /><Relationship Type="http://schemas.openxmlformats.org/officeDocument/2006/relationships/officeDocument" Target="/ppt/presentation.xml" Id="R8fb64ab401e147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945b7e64c34a5a"/>
  </p:sldMasterIdLst>
  <p:notesMasterIdLst>
    <p:notesMasterId xmlns:r="http://schemas.openxmlformats.org/officeDocument/2006/relationships" r:id="R94519b1caad0442b"/>
  </p:notesMasterIdLst>
  <p:sldIdLst>
    <p:sldId xmlns:r="http://schemas.openxmlformats.org/officeDocument/2006/relationships" id="256" r:id="R3821f87d961a4f44"/>
    <p:sldId xmlns:r="http://schemas.openxmlformats.org/officeDocument/2006/relationships" id="257" r:id="R5d5a8b2fca4240d0"/>
    <p:sldId xmlns:r="http://schemas.openxmlformats.org/officeDocument/2006/relationships" id="258" r:id="R32e081d4e32946b7"/>
    <p:sldId xmlns:r="http://schemas.openxmlformats.org/officeDocument/2006/relationships" id="259" r:id="Rf337c8804cb84cb7"/>
    <p:sldId xmlns:r="http://schemas.openxmlformats.org/officeDocument/2006/relationships" id="260" r:id="R59be4bef5197457e"/>
    <p:sldId xmlns:r="http://schemas.openxmlformats.org/officeDocument/2006/relationships" id="261" r:id="R0b4bad30cb064f28"/>
    <p:sldId xmlns:r="http://schemas.openxmlformats.org/officeDocument/2006/relationships" id="262" r:id="R083e0064656246f3"/>
    <p:sldId xmlns:r="http://schemas.openxmlformats.org/officeDocument/2006/relationships" id="263" r:id="R0bb12c08f8af42a1"/>
    <p:sldId xmlns:r="http://schemas.openxmlformats.org/officeDocument/2006/relationships" id="264" r:id="R27ec8aa0e1a040be"/>
    <p:sldId xmlns:r="http://schemas.openxmlformats.org/officeDocument/2006/relationships" id="265" r:id="Rcbad500a9d7d408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537ffaef5d45ba" /><Relationship Type="http://schemas.openxmlformats.org/officeDocument/2006/relationships/slideMaster" Target="/ppt/slideMasters/slideMaster1.xml" Id="R65945b7e64c34a5a" /><Relationship Type="http://schemas.openxmlformats.org/officeDocument/2006/relationships/notesMaster" Target="/ppt/notesMasters/notesMaster1.xml" Id="R94519b1caad0442b" /><Relationship Type="http://schemas.openxmlformats.org/officeDocument/2006/relationships/presProps" Target="/ppt/presProps.xml" Id="Rd32da6dc684c4555" /><Relationship Type="http://schemas.openxmlformats.org/officeDocument/2006/relationships/viewProps" Target="/ppt/viewProps.xml" Id="R64c0ee7680914cba" /><Relationship Type="http://schemas.openxmlformats.org/officeDocument/2006/relationships/tableStyles" Target="/ppt/tableStyles.xml" Id="R3c1ca26351734bef" /><Relationship Type="http://schemas.openxmlformats.org/officeDocument/2006/relationships/slide" Target="/ppt/slides/slide1.xml" Id="R3821f87d961a4f44" /><Relationship Type="http://schemas.openxmlformats.org/officeDocument/2006/relationships/slide" Target="/ppt/slides/slide2.xml" Id="R5d5a8b2fca4240d0" /><Relationship Type="http://schemas.openxmlformats.org/officeDocument/2006/relationships/slide" Target="/ppt/slides/slide3.xml" Id="R32e081d4e32946b7" /><Relationship Type="http://schemas.openxmlformats.org/officeDocument/2006/relationships/slide" Target="/ppt/slides/slide4.xml" Id="Rf337c8804cb84cb7" /><Relationship Type="http://schemas.openxmlformats.org/officeDocument/2006/relationships/slide" Target="/ppt/slides/slide5.xml" Id="R59be4bef5197457e" /><Relationship Type="http://schemas.openxmlformats.org/officeDocument/2006/relationships/slide" Target="/ppt/slides/slide6.xml" Id="R0b4bad30cb064f28" /><Relationship Type="http://schemas.openxmlformats.org/officeDocument/2006/relationships/slide" Target="/ppt/slides/slide7.xml" Id="R083e0064656246f3" /><Relationship Type="http://schemas.openxmlformats.org/officeDocument/2006/relationships/slide" Target="/ppt/slides/slide8.xml" Id="R0bb12c08f8af42a1" /><Relationship Type="http://schemas.openxmlformats.org/officeDocument/2006/relationships/slide" Target="/ppt/slides/slide9.xml" Id="R27ec8aa0e1a040be" /><Relationship Type="http://schemas.openxmlformats.org/officeDocument/2006/relationships/slide" Target="/ppt/slides/slide10.xml" Id="Rcbad500a9d7d40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39d34c865149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0cbe7faa584b84" /><Relationship Type="http://schemas.openxmlformats.org/officeDocument/2006/relationships/notesMaster" Target="/ppt/notesMasters/notesMaster1.xml" Id="R73a93ac96aef43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c8f366ccd94441" /><Relationship Type="http://schemas.openxmlformats.org/officeDocument/2006/relationships/notesMaster" Target="/ppt/notesMasters/notesMaster1.xml" Id="R7eec96d48c2f47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ad3e70236d496e" /><Relationship Type="http://schemas.openxmlformats.org/officeDocument/2006/relationships/notesMaster" Target="/ppt/notesMasters/notesMaster1.xml" Id="R8fcc431a25084f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e52f024ea44fa9" /><Relationship Type="http://schemas.openxmlformats.org/officeDocument/2006/relationships/notesMaster" Target="/ppt/notesMasters/notesMaster1.xml" Id="Ree1327491cfb4d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65b7a3167b4e54" /><Relationship Type="http://schemas.openxmlformats.org/officeDocument/2006/relationships/notesMaster" Target="/ppt/notesMasters/notesMaster1.xml" Id="Raeae2a12860044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0e21f24a1c4d11" /><Relationship Type="http://schemas.openxmlformats.org/officeDocument/2006/relationships/notesMaster" Target="/ppt/notesMasters/notesMaster1.xml" Id="Rd87cee0a724247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91a3406e874d82" /><Relationship Type="http://schemas.openxmlformats.org/officeDocument/2006/relationships/notesMaster" Target="/ppt/notesMasters/notesMaster1.xml" Id="Rd8c8086f61e643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7ff27938cf4d83" /><Relationship Type="http://schemas.openxmlformats.org/officeDocument/2006/relationships/notesMaster" Target="/ppt/notesMasters/notesMaster1.xml" Id="R145209a4e47548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43604f96804491" /><Relationship Type="http://schemas.openxmlformats.org/officeDocument/2006/relationships/notesMaster" Target="/ppt/notesMasters/notesMaster1.xml" Id="Ra78f024b361249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7c97a90ea34956" /><Relationship Type="http://schemas.openxmlformats.org/officeDocument/2006/relationships/notesMaster" Target="/ppt/notesMasters/notesMaster1.xml" Id="R6486e40da9bb47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Предоставленные пользователем сведения: капитан Нисковских Антон Юрьевич; 3 участника; УрТК НИЯУ МИФИ; Заречный, Свердловская область. Содержание решения сверено с ТЗ и FAQ.</a:t>
            </a:r>
          </a:p>
          <a:p xmlns:a="http://schemas.openxmlformats.org/drawingml/2006/main">
            <a:r>
              <a:t>Реализация: Командный аватар с тремя оригинальными персонажами создан 29.09.2026; имя команды набрано текстом в шаблоне.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ТЗ, разделы о целевой аудитории, пользовательском цикле и учебных результатах; FAQ, ответы об этике мотивации, обязательности питомца и приватности.</a:t>
            </a:r>
          </a:p>
          <a:p xmlns:a="http://schemas.openxmlformats.org/drawingml/2006/main">
            <a:r>
              <a:t>Реализация: Главный экран: MainActivity.renderHome(); финансовые показатели хранятся в GameState.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ТЗ, обязательный сценарий планирования и сравнения плана с фактом; FAQ, разделы «Игровой период» и «Экономика и бюджет».</a:t>
            </a:r>
            <a:endParaRPr/>
          </a:p>
          <a:p xmlns:a="http://schemas.openxmlformats.org/drawingml/2006/main">
            <a:r>
              <a:t>Реализация: MainActivity.renderBudget(), renderShop(), renderSavings(), renderDiary(); состояние и расчёты в GameState.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ТЗ, требования к трём направлениям бюджета и план-факт анализу; FAQ, разъяснения о свободном остатке и накоплениях.</a:t>
            </a:r>
          </a:p>
          <a:p xmlns:a="http://schemas.openxmlformats.org/drawingml/2006/main">
            <a:r>
              <a:t>Реализация: Числа рассчитаны как иллюстрация по модели приложения: старт 100; план 45/25/30; товары каталога корм 35 и кепка 25; накоплено 30. Это не пользовательский тест.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ТЗ, требования к обратимому состоянию, росту за несколько периодов, демонстрационному режиму и отсутствию давления; FAQ, ответы о росте, пропуске дней и пяти периодах.</a:t>
            </a:r>
          </a:p>
          <a:p xmlns:a="http://schemas.openxmlformats.org/drawingml/2006/main">
            <a:r>
              <a:t>Реализация: GameState.stage() выдаёт стадии при 0, 2 и 5 успешных периодах; finishPeriod() не понижает стадию.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ТЗ, образовательные результаты по планированию, сбережениям и покупкам; FAQ, требование строить задания вокруг действий, а не только вопросов.</a:t>
            </a:r>
          </a:p>
          <a:p xmlns:a="http://schemas.openxmlformats.org/drawingml/2006/main">
            <a:r>
              <a:t>Реализация: Шесть сценариев в app/src/main/assets/tasks.json распределены по этим трём темам; награда начисляется игровой валютой.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ТЗ, минимальные количественные критерии по комбинациям питомца, заданиям, покупкам, целям и стадиям; FAQ, уточнения о награде задания, ценности игровых монет и необязательной роли взрослого.</a:t>
            </a:r>
          </a:p>
          <a:p xmlns:a="http://schemas.openxmlformats.org/drawingml/2006/main">
            <a:r>
              <a:t>Реализация: Каталог: purchases.json; темы/награждение: tasks.json; профиль и рост: GameState.java.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ТЗ, ограничения на рекламу, реальные деньги, персональные данные и этическую мотивацию; FAQ, ответы «Этика и мотивация», «Сложность, возраст и данные», «Барьер для родителей».</a:t>
            </a:r>
          </a:p>
          <a:p xmlns:a="http://schemas.openxmlformats.org/drawingml/2006/main">
            <a:r>
              <a:t>Реализация: В манифесте отсутствуют uses-permission; профиль хранится в SharedPreferences.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ТЗ, требования к архитектуре, офлайн-работе, сохранению и раздельному хранению контента; FAQ, ответы о сервере и формате заданий.</a:t>
            </a:r>
          </a:p>
          <a:p xmlns:a="http://schemas.openxmlformats.org/drawingml/2006/main">
            <a:r>
              <a:t>Реализация: Структура проекта: MainActivity.java, GameState.java, tasks.json, purchases.json; AndroidManifest без разрешений сети.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ТЗ, состав финальной передачи и требования к тестированию на физическом устройстве; FAQ, ответы о формате APK, промежуточной/финальной проверке и отчёте.</a:t>
            </a:r>
          </a:p>
          <a:p xmlns:a="http://schemas.openxmlformats.org/drawingml/2006/main">
            <a:r>
              <a:t>Реализация: Локальный build assembleDebug/assembleRelease выполнен; APK signature проверена apksigner. Эмулятор использовался для захвата интерфейсных изображений, а не как полный функциональный тест.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e09e82e49434d" /><Relationship Type="http://schemas.openxmlformats.org/officeDocument/2006/relationships/image" Target="/ppt/media/image2.png" Id="R6fc24833d1784f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407ce077b4b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1e30d0e144b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e26fbbb3b4d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1f185c15d48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bdc2117e04a8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5d5136ed24c3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f94d6242d24df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882431f2f424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9fb6b6ce54e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c5694d0dc4a6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f5752bdd8496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ffe3a4c4740d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379f7b370422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c6e7abaef49f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995bbb2b34ca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b34ea83374f9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1cf381b66462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f67cea174489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1c99ba3c24e3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fcbf1ca2142b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f829008b84c16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b25e1d3844bbb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6fc24833d1784fb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81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d181317a41e4166" /><Relationship Type="http://schemas.openxmlformats.org/officeDocument/2006/relationships/theme" Target="/ppt/slideMasters/theme/theme2.xml" Id="Ra9ae7e5565594f6c" /><Relationship Type="http://schemas.openxmlformats.org/officeDocument/2006/relationships/slideLayout" Target="/ppt/slideLayouts/slideLayout1.xml" Id="R08274321b0ce4da8" /><Relationship Type="http://schemas.openxmlformats.org/officeDocument/2006/relationships/slideLayout" Target="/ppt/slideLayouts/slideLayout2.xml" Id="R332501224e434f10" /><Relationship Type="http://schemas.openxmlformats.org/officeDocument/2006/relationships/slideLayout" Target="/ppt/slideLayouts/slideLayout3.xml" Id="R723849a863c54495" /><Relationship Type="http://schemas.openxmlformats.org/officeDocument/2006/relationships/slideLayout" Target="/ppt/slideLayouts/slideLayout4.xml" Id="R7d68c91d12ab490f" /><Relationship Type="http://schemas.openxmlformats.org/officeDocument/2006/relationships/slideLayout" Target="/ppt/slideLayouts/slideLayout5.xml" Id="Raca5ff1c76084390" /><Relationship Type="http://schemas.openxmlformats.org/officeDocument/2006/relationships/slideLayout" Target="/ppt/slideLayouts/slideLayout6.xml" Id="Raad23713878d4582" /><Relationship Type="http://schemas.openxmlformats.org/officeDocument/2006/relationships/slideLayout" Target="/ppt/slideLayouts/slideLayout7.xml" Id="Rbcc6e4932ae8475b" /><Relationship Type="http://schemas.openxmlformats.org/officeDocument/2006/relationships/slideLayout" Target="/ppt/slideLayouts/slideLayout8.xml" Id="Rc3965bb409f34c5b" /><Relationship Type="http://schemas.openxmlformats.org/officeDocument/2006/relationships/slideLayout" Target="/ppt/slideLayouts/slideLayout9.xml" Id="R7f9d1c52eec54ab0" /><Relationship Type="http://schemas.openxmlformats.org/officeDocument/2006/relationships/slideLayout" Target="/ppt/slideLayouts/slideLayout10.xml" Id="Rd18eff4988894909" /><Relationship Type="http://schemas.openxmlformats.org/officeDocument/2006/relationships/slideLayout" Target="/ppt/slideLayouts/slideLayout11.xml" Id="R7727f4ab917f4891" /><Relationship Type="http://schemas.openxmlformats.org/officeDocument/2006/relationships/slideLayout" Target="/ppt/slideLayouts/slideLayout12.xml" Id="Rf44f3a89cddf4fc2" /><Relationship Type="http://schemas.openxmlformats.org/officeDocument/2006/relationships/slideLayout" Target="/ppt/slideLayouts/slideLayout13.xml" Id="R8a38ade07b734205" /><Relationship Type="http://schemas.openxmlformats.org/officeDocument/2006/relationships/slideLayout" Target="/ppt/slideLayouts/slideLayout14.xml" Id="R5ffc5c5b02304e8f" /><Relationship Type="http://schemas.openxmlformats.org/officeDocument/2006/relationships/slideLayout" Target="/ppt/slideLayouts/slideLayout15.xml" Id="Rff4f13aada414a49" /><Relationship Type="http://schemas.openxmlformats.org/officeDocument/2006/relationships/slideLayout" Target="/ppt/slideLayouts/slideLayout16.xml" Id="R7491cfd7320548bf" /><Relationship Type="http://schemas.openxmlformats.org/officeDocument/2006/relationships/slideLayout" Target="/ppt/slideLayouts/slideLayout17.xml" Id="R02fd1edb78b642a9" /><Relationship Type="http://schemas.openxmlformats.org/officeDocument/2006/relationships/slideLayout" Target="/ppt/slideLayouts/slideLayout18.xml" Id="Rf911d1c44c4f485e" /><Relationship Type="http://schemas.openxmlformats.org/officeDocument/2006/relationships/slideLayout" Target="/ppt/slideLayouts/slideLayout19.xml" Id="R68802545b392479d" /><Relationship Type="http://schemas.openxmlformats.org/officeDocument/2006/relationships/slideLayout" Target="/ppt/slideLayouts/slideLayout20.xml" Id="R689378b7b0804718" /><Relationship Type="http://schemas.openxmlformats.org/officeDocument/2006/relationships/slideLayout" Target="/ppt/slideLayouts/slideLayout21.xml" Id="R474ed71a5fa94c90" /><Relationship Type="http://schemas.openxmlformats.org/officeDocument/2006/relationships/slideLayout" Target="/ppt/slideLayouts/slideLayout22.xml" Id="R2635435374e24fcc" /><Relationship Type="http://schemas.openxmlformats.org/officeDocument/2006/relationships/slideLayout" Target="/ppt/slideLayouts/slideLayout23.xml" Id="Rcb2f87fa6a4046fa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d181317a41e416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274321b0ce4da8"/>
    <p:sldLayoutId xmlns:r="http://schemas.openxmlformats.org/officeDocument/2006/relationships" id="2147483650" r:id="R332501224e434f10"/>
    <p:sldLayoutId xmlns:r="http://schemas.openxmlformats.org/officeDocument/2006/relationships" id="2147483651" r:id="R723849a863c54495"/>
    <p:sldLayoutId xmlns:r="http://schemas.openxmlformats.org/officeDocument/2006/relationships" id="2147483652" r:id="R7d68c91d12ab490f"/>
    <p:sldLayoutId xmlns:r="http://schemas.openxmlformats.org/officeDocument/2006/relationships" id="2147483653" r:id="Raca5ff1c76084390"/>
    <p:sldLayoutId xmlns:r="http://schemas.openxmlformats.org/officeDocument/2006/relationships" id="2147483654" r:id="Raad23713878d4582"/>
    <p:sldLayoutId xmlns:r="http://schemas.openxmlformats.org/officeDocument/2006/relationships" id="2147483655" r:id="Rbcc6e4932ae8475b"/>
    <p:sldLayoutId xmlns:r="http://schemas.openxmlformats.org/officeDocument/2006/relationships" id="2147483656" r:id="Rc3965bb409f34c5b"/>
    <p:sldLayoutId xmlns:r="http://schemas.openxmlformats.org/officeDocument/2006/relationships" id="2147483657" r:id="R7f9d1c52eec54ab0"/>
    <p:sldLayoutId xmlns:r="http://schemas.openxmlformats.org/officeDocument/2006/relationships" id="2147483658" r:id="Rd18eff4988894909"/>
    <p:sldLayoutId xmlns:r="http://schemas.openxmlformats.org/officeDocument/2006/relationships" id="2147483659" r:id="R7727f4ab917f4891"/>
    <p:sldLayoutId xmlns:r="http://schemas.openxmlformats.org/officeDocument/2006/relationships" id="2147483660" r:id="Rf44f3a89cddf4fc2"/>
    <p:sldLayoutId xmlns:r="http://schemas.openxmlformats.org/officeDocument/2006/relationships" id="2147483661" r:id="R8a38ade07b734205"/>
    <p:sldLayoutId xmlns:r="http://schemas.openxmlformats.org/officeDocument/2006/relationships" id="2147483662" r:id="R5ffc5c5b02304e8f"/>
    <p:sldLayoutId xmlns:r="http://schemas.openxmlformats.org/officeDocument/2006/relationships" id="2147483663" r:id="Rff4f13aada414a49"/>
    <p:sldLayoutId xmlns:r="http://schemas.openxmlformats.org/officeDocument/2006/relationships" id="2147483664" r:id="R7491cfd7320548bf"/>
    <p:sldLayoutId xmlns:r="http://schemas.openxmlformats.org/officeDocument/2006/relationships" id="2147483665" r:id="R02fd1edb78b642a9"/>
    <p:sldLayoutId xmlns:r="http://schemas.openxmlformats.org/officeDocument/2006/relationships" id="2147483666" r:id="Rf911d1c44c4f485e"/>
    <p:sldLayoutId xmlns:r="http://schemas.openxmlformats.org/officeDocument/2006/relationships" id="2147483667" r:id="R68802545b392479d"/>
    <p:sldLayoutId xmlns:r="http://schemas.openxmlformats.org/officeDocument/2006/relationships" id="2147483668" r:id="R689378b7b0804718"/>
    <p:sldLayoutId xmlns:r="http://schemas.openxmlformats.org/officeDocument/2006/relationships" id="2147483669" r:id="R474ed71a5fa94c90"/>
    <p:sldLayoutId xmlns:r="http://schemas.openxmlformats.org/officeDocument/2006/relationships" id="2147483670" r:id="R2635435374e24fcc"/>
    <p:sldLayoutId xmlns:r="http://schemas.openxmlformats.org/officeDocument/2006/relationships" id="2147483671" r:id="Rcb2f87fa6a4046fa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598576b9a54d0f" /><Relationship Type="http://schemas.openxmlformats.org/officeDocument/2006/relationships/image" Target="/ppt/media/image3.png" Id="Rdc160782af0f4fad" /><Relationship Type="http://schemas.openxmlformats.org/officeDocument/2006/relationships/image" Target="/ppt/media/image4.png" Id="R72ce653bbbd743b2" /><Relationship Type="http://schemas.openxmlformats.org/officeDocument/2006/relationships/notesSlide" Target="/ppt/notesSlides/notesSlide1.xml" Id="R6a51de4b5f7e4e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f12b722ceda44e6" /><Relationship Type="http://schemas.openxmlformats.org/officeDocument/2006/relationships/image" Target="/ppt/media/image.png" Id="R4a6127285541488a" /><Relationship Type="http://schemas.openxmlformats.org/officeDocument/2006/relationships/image" Target="/ppt/media/image5.png" Id="Rfefbc0d5ccf64604" /><Relationship Type="http://schemas.openxmlformats.org/officeDocument/2006/relationships/notesSlide" Target="/ppt/notesSlides/notesSlide2.xml" Id="Rc251210078244e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fc064c2ea2d4a82" /><Relationship Type="http://schemas.openxmlformats.org/officeDocument/2006/relationships/image" Target="/ppt/media/image.png" Id="R389cdb8da559454f" /><Relationship Type="http://schemas.openxmlformats.org/officeDocument/2006/relationships/image" Target="/ppt/media/image6.png" Id="R9ca3a97b77bd46c3" /><Relationship Type="http://schemas.openxmlformats.org/officeDocument/2006/relationships/notesSlide" Target="/ppt/notesSlides/notesSlide3.xml" Id="Rde898201184348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9ca5c0c7fc24a85" /><Relationship Type="http://schemas.openxmlformats.org/officeDocument/2006/relationships/image" Target="/ppt/media/image.png" Id="R4c241578e1c74fce" /><Relationship Type="http://schemas.openxmlformats.org/officeDocument/2006/relationships/chart" Target="/ppt/slides/charts/chart1.xml" Id="R724c057a85e4495a" /><Relationship Type="http://schemas.openxmlformats.org/officeDocument/2006/relationships/notesSlide" Target="/ppt/notesSlides/notesSlide4.xml" Id="R3b0ea5acc0894b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2d48145a4654003" /><Relationship Type="http://schemas.openxmlformats.org/officeDocument/2006/relationships/image" Target="/ppt/media/image3.png" Id="R64f80d140d1c477a" /><Relationship Type="http://schemas.openxmlformats.org/officeDocument/2006/relationships/notesSlide" Target="/ppt/notesSlides/notesSlide5.xml" Id="Rb6bc9b68efcf43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b3fc2e757f447f1" /><Relationship Type="http://schemas.openxmlformats.org/officeDocument/2006/relationships/image" Target="/ppt/media/image7.png" Id="R4432d1eefb464315" /><Relationship Type="http://schemas.openxmlformats.org/officeDocument/2006/relationships/notesSlide" Target="/ppt/notesSlides/notesSlide6.xml" Id="R5dedd6b0092d4f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c76501920af4588" /><Relationship Type="http://schemas.openxmlformats.org/officeDocument/2006/relationships/image" Target="/ppt/media/image.png" Id="Ref3eba7ad21a487e" /><Relationship Type="http://schemas.openxmlformats.org/officeDocument/2006/relationships/notesSlide" Target="/ppt/notesSlides/notesSlide7.xml" Id="Ra7a7ba551fd24c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1a89bd7159d4d64" /><Relationship Type="http://schemas.openxmlformats.org/officeDocument/2006/relationships/image" Target="/ppt/media/image7.png" Id="Rd066224557b6457e" /><Relationship Type="http://schemas.openxmlformats.org/officeDocument/2006/relationships/notesSlide" Target="/ppt/notesSlides/notesSlide8.xml" Id="R9e396dc8f50640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770dc4239bf4917" /><Relationship Type="http://schemas.openxmlformats.org/officeDocument/2006/relationships/image" Target="/ppt/media/image3.png" Id="R0f33bbc97d6445eb" /><Relationship Type="http://schemas.openxmlformats.org/officeDocument/2006/relationships/image" Target="/ppt/media/image8.png" Id="Re9ff0c7d32fe4fbc" /><Relationship Type="http://schemas.openxmlformats.org/officeDocument/2006/relationships/notesSlide" Target="/ppt/notesSlides/notesSlide9.xml" Id="R82c85175d6704c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623c7f00d44608" /><Relationship Type="http://schemas.openxmlformats.org/officeDocument/2006/relationships/image" Target="/ppt/media/image7.png" Id="Raf72390fa5824850" /><Relationship Type="http://schemas.openxmlformats.org/officeDocument/2006/relationships/notesSlide" Target="/ppt/notesSlides/notesSlide10.xml" Id="Rda21cae684f543f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План</c:v>
          </c:tx>
          <c:spPr>
            <a:solidFill xmlns:a="http://schemas.openxmlformats.org/drawingml/2006/main">
              <a:srgbClr val="FF0053"/>
            </a:solidFill>
          </c:spPr>
          <c:cat>
            <c:strRef>
              <c:f>'Chart Data'!$A$2:$A$4</c:f>
              <c:strCache>
                <c:ptCount val="3"/>
                <c:pt idx="0">
                  <c:v>Обязательное</c:v>
                </c:pt>
                <c:pt idx="1">
                  <c:v>Желание</c:v>
                </c:pt>
                <c:pt idx="2">
                  <c:v>Копилка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45</c:v>
                </c:pt>
                <c:pt idx="1">
                  <c:v>25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v>Модельный факт</c:v>
          </c:tx>
          <c:spPr>
            <a:solidFill xmlns:a="http://schemas.openxmlformats.org/drawingml/2006/main">
              <a:srgbClr val="FFD6E4"/>
            </a:solidFill>
          </c:spPr>
          <c:cat>
            <c:strRef>
              <c:f>'Chart Data'!$C$2:$C$4</c:f>
              <c:strCache>
                <c:ptCount val="3"/>
                <c:pt idx="0">
                  <c:v>Обязательное</c:v>
                </c:pt>
                <c:pt idx="1">
                  <c:v>Желание</c:v>
                </c:pt>
                <c:pt idx="2">
                  <c:v>Копилка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35</c:v>
                </c:pt>
                <c:pt idx="1">
                  <c:v>25</c:v>
                </c:pt>
                <c:pt idx="2">
                  <c:v>30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FFFFFF"/>
                  </a:solidFill>
                  <a:latin typeface="Montserrat"/>
                  <a:ea typeface="Montserrat"/>
                  <a:cs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A83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8A83D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8A83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FFFFFF"/>
              </a:solidFill>
              <a:latin typeface="Montserrat"/>
              <a:ea typeface="Montserrat"/>
              <a:cs typeface="Montserra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c160782af0f4fa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wrap="square" lIns="19050" tIns="9525" rIns="19050" bIns="9525" anchor="t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Font typeface="Wingdings"/>
              <a:buNone/>
              <a:defRPr sz="127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Три оригинальных питомца растут после последовательных финансовых решений. Игра спокойно показывает последствия выбора: без штрафов за ошибки, рекламы и настоящих платежей.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wrap="square" lIns="28575" tIns="19050" rIns="28575" bIns="19050" anchor="t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Капитан: Нисковских Антон Юрьевич</a:t>
            </a:r>
          </a:p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Количество участников: 3 человека</a:t>
            </a:r>
          </a:p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Учебная команда УрТК НИЯУ МИФИ</a:t>
            </a:r>
          </a:p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1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Создаём детские приложения, которые учат через игровой опыт</a:t>
            </a:r>
          </a:p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1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Разрабатываем «Питомец Финни» — игру о планировании бюджета</a:t>
            </a:r>
          </a:p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Город и регион: Заречный, Свердловская область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КОМАНДА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algn="l"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«1C-enjoer»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ED4234BF-861E-4940-8A5E-E820F487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3277A31D-E045-40EC-A77A-F291589C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83A2CB6F-9151-4314-9830-A63D39A6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wrap="square" lIns="19050" tIns="9525" rIns="19050" bIns="9525" anchor="t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Font typeface="Wingdings"/>
              <a:buNone/>
              <a:defRPr sz="127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Офлайн-приложение для детей 7–11 лет. Заботясь о питомце, ребёнок распределяет игровые монеты между необходимым, желаниями и накоплениями, а затем сравнивает план с фактом.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AD75FED6-38D0-DE9C-92C0-6E7FA635581C}" type="slidenum">
              <a:rPr sz="1200">
                <a:solidFill>
                  <a:schemeClr val="accent5"/>
                </a:solidFill>
              </a:rPr>
              <a:t>1</a:t>
            </a:fld>
            <a:endParaRPr sz="1200">
              <a:solidFill>
                <a:schemeClr val="accent5"/>
              </a:solidFill>
            </a:endParaRP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e653bbbd743b2"/>
          <a:stretch xmlns:a="http://schemas.openxmlformats.org/drawingml/2006/main"/>
        </p:blipFill>
        <p:spPr>
          <a:xfrm xmlns:a="http://schemas.openxmlformats.org/drawingml/2006/main">
            <a:off x="0" y="333550"/>
            <a:ext cx="6457950" cy="29714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a6127285541488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rPr>
                <a:solidFill>
                  <a:schemeClr val="bg1"/>
                </a:solidFill>
              </a:rPr>
              <a:t>2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84CAE9-F4E5-4958-9DD6-8049F39B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ПРОБЛЕМА И ИДЕЯ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bc0d5ccf64604"/>
          <a:stretch xmlns:a="http://schemas.openxmlformats.org/drawingml/2006/main"/>
        </p:blipFill>
        <p:spPr>
          <a:xfrm xmlns:a="http://schemas.openxmlformats.org/drawingml/2006/main">
            <a:off x="785515" y="1552575"/>
            <a:ext cx="2105620" cy="3743325"/>
          </a:xfrm>
          <a:prstGeom xmlns:a="http://schemas.openxmlformats.org/drawingml/2006/main" prst="rect">
            <a:avLst/>
          </a:prstGeom>
        </p:spPr>
      </p:pic>
      <p:sp>
        <p:nvSpPr>
          <p:cNvPr id="24" name="idea-lead">
            <a:extLst xmlns:a="http://schemas.openxmlformats.org/drawingml/2006/main">
              <a:ext uri="{FF2B5EF4-FFF2-40B4-BE49-F238E27FC236}">
                <a16:creationId xmlns:a16="http://schemas.microsoft.com/office/drawing/2014/main" id="{B99534B9-2BF4-4D8A-8F1D-ED4F9AAD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24025"/>
            <a:ext cx="747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Финансовые решения становятся понятными через действие</a:t>
            </a:r>
          </a:p>
        </p:txBody>
      </p:sp>
      <p:sp>
        <p:nvSpPr>
          <p:cNvPr id="25" name="idea-body">
            <a:extLst xmlns:a="http://schemas.openxmlformats.org/drawingml/2006/main">
              <a:ext uri="{FF2B5EF4-FFF2-40B4-BE49-F238E27FC236}">
                <a16:creationId xmlns:a16="http://schemas.microsoft.com/office/drawing/2014/main" id="{2251832D-DF5A-463F-8F4E-32A17999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7372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Ребёнок видит, как каждая монета меняет доступный баланс, покупки и цель накоплений. После игрового периода приложение сравнивает план с фактом и объясняет результат простыми словами.</a:t>
            </a:r>
          </a:p>
        </p:txBody>
      </p:sp>
      <p:sp>
        <p:nvSpPr>
          <p:cNvPr id="26" name="idea-card-a">
            <a:extLst xmlns:a="http://schemas.openxmlformats.org/drawingml/2006/main">
              <a:ext uri="{FF2B5EF4-FFF2-40B4-BE49-F238E27FC236}">
                <a16:creationId xmlns:a16="http://schemas.microsoft.com/office/drawing/2014/main" id="{1F58BEC2-FF23-4DA1-8E89-EB339D9C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62375"/>
            <a:ext cx="23622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0FA"/>
          </a:solidFill>
          <a:ln xmlns:a="http://schemas.openxmlformats.org/drawingml/2006/main" w="11430">
            <a:solidFill>
              <a:srgbClr val="E4D5EB"/>
            </a:solidFill>
          </a:ln>
        </p:spPr>
      </p:sp>
      <p:sp>
        <p:nvSpPr>
          <p:cNvPr id="27" name="idea-a-title">
            <a:extLst xmlns:a="http://schemas.openxmlformats.org/drawingml/2006/main">
              <a:ext uri="{FF2B5EF4-FFF2-40B4-BE49-F238E27FC236}">
                <a16:creationId xmlns:a16="http://schemas.microsoft.com/office/drawing/2014/main" id="{6B19F16D-2C5A-445A-B212-9A0A0E56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147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Кому</a:t>
            </a:r>
          </a:p>
        </p:txBody>
      </p:sp>
      <p:sp>
        <p:nvSpPr>
          <p:cNvPr id="28" name="idea-a-body">
            <a:extLst xmlns:a="http://schemas.openxmlformats.org/drawingml/2006/main">
              <a:ext uri="{FF2B5EF4-FFF2-40B4-BE49-F238E27FC236}">
                <a16:creationId xmlns:a16="http://schemas.microsoft.com/office/drawing/2014/main" id="{63D2799E-800C-4DF5-B651-E8C4310B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57675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Детям 7–11 лет</a:t>
            </a:r>
          </a:p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Короткий офлайн-цикл</a:t>
            </a:r>
          </a:p>
        </p:txBody>
      </p:sp>
      <p:sp>
        <p:nvSpPr>
          <p:cNvPr id="29" name="idea-card-b">
            <a:extLst xmlns:a="http://schemas.openxmlformats.org/drawingml/2006/main">
              <a:ext uri="{FF2B5EF4-FFF2-40B4-BE49-F238E27FC236}">
                <a16:creationId xmlns:a16="http://schemas.microsoft.com/office/drawing/2014/main" id="{A1A17C4C-C6EA-4E98-BAA7-E4A6BCA7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62375"/>
            <a:ext cx="23622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0FA"/>
          </a:solidFill>
          <a:ln xmlns:a="http://schemas.openxmlformats.org/drawingml/2006/main" w="11430">
            <a:solidFill>
              <a:srgbClr val="E4D5EB"/>
            </a:solidFill>
          </a:ln>
        </p:spPr>
      </p:sp>
      <p:sp>
        <p:nvSpPr>
          <p:cNvPr id="30" name="idea-b-title">
            <a:extLst xmlns:a="http://schemas.openxmlformats.org/drawingml/2006/main">
              <a:ext uri="{FF2B5EF4-FFF2-40B4-BE49-F238E27FC236}">
                <a16:creationId xmlns:a16="http://schemas.microsoft.com/office/drawing/2014/main" id="{D06908E8-607B-40C0-A690-F2E2F94A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147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Чему</a:t>
            </a:r>
          </a:p>
        </p:txBody>
      </p:sp>
      <p:sp>
        <p:nvSpPr>
          <p:cNvPr id="31" name="idea-b-body">
            <a:extLst xmlns:a="http://schemas.openxmlformats.org/drawingml/2006/main">
              <a:ext uri="{FF2B5EF4-FFF2-40B4-BE49-F238E27FC236}">
                <a16:creationId xmlns:a16="http://schemas.microsoft.com/office/drawing/2014/main" id="{975A89FD-E551-400F-91A3-B831BF9B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57675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Планировать, копить, сравнивать выборы</a:t>
            </a:r>
          </a:p>
        </p:txBody>
      </p:sp>
      <p:sp>
        <p:nvSpPr>
          <p:cNvPr id="32" name="idea-card-c">
            <a:extLst xmlns:a="http://schemas.openxmlformats.org/drawingml/2006/main">
              <a:ext uri="{FF2B5EF4-FFF2-40B4-BE49-F238E27FC236}">
                <a16:creationId xmlns:a16="http://schemas.microsoft.com/office/drawing/2014/main" id="{1E74E8DB-95AF-45EF-806D-E1345A7C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62375"/>
            <a:ext cx="25812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1F6"/>
          </a:solidFill>
          <a:ln xmlns:a="http://schemas.openxmlformats.org/drawingml/2006/main" w="11430">
            <a:solidFill>
              <a:srgbClr val="F2CAD8"/>
            </a:solidFill>
          </a:ln>
        </p:spPr>
      </p:sp>
      <p:sp>
        <p:nvSpPr>
          <p:cNvPr id="33" name="idea-c-title">
            <a:extLst xmlns:a="http://schemas.openxmlformats.org/drawingml/2006/main">
              <a:ext uri="{FF2B5EF4-FFF2-40B4-BE49-F238E27FC236}">
                <a16:creationId xmlns:a16="http://schemas.microsoft.com/office/drawing/2014/main" id="{63ED63B2-F450-4DBD-AD4C-861C5DDB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147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Как</a:t>
            </a:r>
          </a:p>
        </p:txBody>
      </p:sp>
      <p:sp>
        <p:nvSpPr>
          <p:cNvPr id="34" name="idea-c-body">
            <a:extLst xmlns:a="http://schemas.openxmlformats.org/drawingml/2006/main">
              <a:ext uri="{FF2B5EF4-FFF2-40B4-BE49-F238E27FC236}">
                <a16:creationId xmlns:a16="http://schemas.microsoft.com/office/drawing/2014/main" id="{296645AF-1737-401D-A578-372D3A98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5767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Питомец растёт благодаря устойчивым решениям</a:t>
            </a:r>
          </a:p>
        </p:txBody>
      </p:sp>
      <p:sp>
        <p:nvSpPr>
          <p:cNvPr id="35" name="slide2-footer">
            <a:extLst xmlns:a="http://schemas.openxmlformats.org/drawingml/2006/main">
              <a:ext uri="{FF2B5EF4-FFF2-40B4-BE49-F238E27FC236}">
                <a16:creationId xmlns:a16="http://schemas.microsoft.com/office/drawing/2014/main" id="{CC64348F-3424-45F7-8FE3-C84B4DC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81600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5D6D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55D6D"/>
                </a:solidFill>
                <a:latin typeface="Montserrat"/>
                <a:ea typeface="Montserrat"/>
                <a:cs typeface="Montserrat"/>
              </a:rPr>
              <a:t>Без настоящих денег, рекламы и обязательного аккаунта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89cdb8da559454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266006"/>
            <a:ext cx="5354638" cy="6331643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2700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 xmlns:a="http://schemas.openxmlformats.org/drawingml/2006/main"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040" y="496888"/>
            <a:ext cx="4781233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solidFill>
                <a:schemeClr val="accent5"/>
              </a:solidFill>
            </a:endParaRPr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97D71A7D-1E9E-F7B1-53EA-139E488DA22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6001" y="0"/>
            <a:ext cx="6096000" cy="6857999"/>
          </a:xfrm>
        </p:spPr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95433" y="1143695"/>
            <a:ext cx="4807840" cy="47173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budget-panel-title">
            <a:extLst xmlns:a="http://schemas.openxmlformats.org/drawingml/2006/main">
              <a:ext uri="{FF2B5EF4-FFF2-40B4-BE49-F238E27FC236}">
                <a16:creationId xmlns:a16="http://schemas.microsoft.com/office/drawing/2014/main" id="{C85EA764-214A-4837-B9EC-6BDD61E9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"/>
            <a:ext cx="4686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ПЛАН БЮДЖЕТА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3a97b77bd46c3"/>
          <a:stretch xmlns:a="http://schemas.openxmlformats.org/drawingml/2006/main"/>
        </p:blipFill>
        <p:spPr>
          <a:xfrm xmlns:a="http://schemas.openxmlformats.org/drawingml/2006/main">
            <a:off x="1689497" y="1066800"/>
            <a:ext cx="2678906" cy="4762500"/>
          </a:xfrm>
          <a:prstGeom xmlns:a="http://schemas.openxmlformats.org/drawingml/2006/main" prst="rect">
            <a:avLst/>
          </a:prstGeom>
        </p:spPr>
      </p:pic>
      <p:sp>
        <p:nvSpPr>
          <p:cNvPr id="12" name="journey-title">
            <a:extLst xmlns:a="http://schemas.openxmlformats.org/drawingml/2006/main">
              <a:ext uri="{FF2B5EF4-FFF2-40B4-BE49-F238E27FC236}">
                <a16:creationId xmlns:a16="http://schemas.microsoft.com/office/drawing/2014/main" id="{9A115B4F-FF8D-4808-AB91-C044ABED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723900"/>
            <a:ext cx="53625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 проходит игровой период</a:t>
            </a:r>
          </a:p>
        </p:txBody>
      </p:sp>
      <p:sp>
        <p:nvSpPr>
          <p:cNvPr id="13" name="journey-step-1-title">
            <a:extLst xmlns:a="http://schemas.openxmlformats.org/drawingml/2006/main">
              <a:ext uri="{FF2B5EF4-FFF2-40B4-BE49-F238E27FC236}">
                <a16:creationId xmlns:a16="http://schemas.microsoft.com/office/drawing/2014/main" id="{E6804C3E-7A73-42C0-B443-4DAFFF46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24025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01  Распредели</a:t>
            </a:r>
          </a:p>
        </p:txBody>
      </p:sp>
      <p:sp>
        <p:nvSpPr>
          <p:cNvPr id="14" name="journey-step-1-body">
            <a:extLst xmlns:a="http://schemas.openxmlformats.org/drawingml/2006/main">
              <a:ext uri="{FF2B5EF4-FFF2-40B4-BE49-F238E27FC236}">
                <a16:creationId xmlns:a16="http://schemas.microsoft.com/office/drawing/2014/main" id="{9B55E92C-38A6-4509-88C7-938D6767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85975"/>
            <a:ext cx="5238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Раздели доступные монеты на обязательное, желание и копилку.</a:t>
            </a:r>
          </a:p>
        </p:txBody>
      </p:sp>
      <p:sp>
        <p:nvSpPr>
          <p:cNvPr id="15" name="journey-step-2-title">
            <a:extLst xmlns:a="http://schemas.openxmlformats.org/drawingml/2006/main">
              <a:ext uri="{FF2B5EF4-FFF2-40B4-BE49-F238E27FC236}">
                <a16:creationId xmlns:a16="http://schemas.microsoft.com/office/drawing/2014/main" id="{E4B0689B-9DBB-4F21-9857-88AB3D05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90825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02  Проверь</a:t>
            </a:r>
          </a:p>
        </p:txBody>
      </p:sp>
      <p:sp>
        <p:nvSpPr>
          <p:cNvPr id="16" name="journey-step-2-body">
            <a:extLst xmlns:a="http://schemas.openxmlformats.org/drawingml/2006/main">
              <a:ext uri="{FF2B5EF4-FFF2-40B4-BE49-F238E27FC236}">
                <a16:creationId xmlns:a16="http://schemas.microsoft.com/office/drawing/2014/main" id="{D8C5D3C8-AA25-4271-8CBA-36929497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52775"/>
            <a:ext cx="5238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Посмотри цены, категории и последствия до покупки.</a:t>
            </a:r>
          </a:p>
        </p:txBody>
      </p:sp>
      <p:sp>
        <p:nvSpPr>
          <p:cNvPr id="17" name="journey-step-3-title">
            <a:extLst xmlns:a="http://schemas.openxmlformats.org/drawingml/2006/main">
              <a:ext uri="{FF2B5EF4-FFF2-40B4-BE49-F238E27FC236}">
                <a16:creationId xmlns:a16="http://schemas.microsoft.com/office/drawing/2014/main" id="{634163E4-D0B5-4821-B7B3-DC40F9A5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57625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03  Выбери</a:t>
            </a:r>
          </a:p>
        </p:txBody>
      </p:sp>
      <p:sp>
        <p:nvSpPr>
          <p:cNvPr id="18" name="journey-step-3-body">
            <a:extLst xmlns:a="http://schemas.openxmlformats.org/drawingml/2006/main">
              <a:ext uri="{FF2B5EF4-FFF2-40B4-BE49-F238E27FC236}">
                <a16:creationId xmlns:a16="http://schemas.microsoft.com/office/drawing/2014/main" id="{AAE6FF17-6A3C-46AF-B244-4E264146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9575"/>
            <a:ext cx="5238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Купи нужное, отложи желание или переведи сумму в накопления.</a:t>
            </a:r>
          </a:p>
        </p:txBody>
      </p:sp>
      <p:sp>
        <p:nvSpPr>
          <p:cNvPr id="19" name="journey-step-4-title">
            <a:extLst xmlns:a="http://schemas.openxmlformats.org/drawingml/2006/main">
              <a:ext uri="{FF2B5EF4-FFF2-40B4-BE49-F238E27FC236}">
                <a16:creationId xmlns:a16="http://schemas.microsoft.com/office/drawing/2014/main" id="{A3CCBBB3-966E-46B7-A302-71BD7B4A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24425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04  Сравни</a:t>
            </a:r>
          </a:p>
        </p:txBody>
      </p:sp>
      <p:sp>
        <p:nvSpPr>
          <p:cNvPr id="20" name="journey-step-4-body">
            <a:extLst xmlns:a="http://schemas.openxmlformats.org/drawingml/2006/main">
              <a:ext uri="{FF2B5EF4-FFF2-40B4-BE49-F238E27FC236}">
                <a16:creationId xmlns:a16="http://schemas.microsoft.com/office/drawing/2014/main" id="{F19A8DC3-6364-4D6C-8FB9-9E392346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86375"/>
            <a:ext cx="5238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Увидь план, факт и подсказку; реши, что изменить в следующем периоде.</a:t>
            </a: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c241578e1c74fc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47188"/>
            <a:ext cx="5570538" cy="1666934"/>
          </a:xfrm>
          <a:prstGeom xmlns:a="http://schemas.openxmlformats.org/drawingml/2006/main" prst="roundRect">
            <a:avLst>
              <a:gd name="adj" fmla="val 877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2356"/>
            <a:ext cx="5570538" cy="1666934"/>
          </a:xfrm>
          <a:prstGeom xmlns:a="http://schemas.openxmlformats.org/drawingml/2006/main" prst="roundRect">
            <a:avLst>
              <a:gd name="adj" fmla="val 877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17525"/>
            <a:ext cx="5570538" cy="1666934"/>
          </a:xfrm>
          <a:prstGeom xmlns:a="http://schemas.openxmlformats.org/drawingml/2006/main" prst="roundRect">
            <a:avLst>
              <a:gd name="adj" fmla="val 877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 xmlns:a="http://schemas.openxmlformats.org/drawingml/2006/main"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591637" y="1049727"/>
            <a:ext cx="4790314" cy="59781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591637" y="1649793"/>
            <a:ext cx="4790314" cy="77960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591637" y="2915797"/>
            <a:ext cx="4790314" cy="563519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591637" y="3515862"/>
            <a:ext cx="4790314" cy="86902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591637" y="4871732"/>
            <a:ext cx="4790314" cy="59781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591637" y="5471798"/>
            <a:ext cx="4790314" cy="8480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3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2763648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chart-title">
            <a:extLst xmlns:a="http://schemas.openxmlformats.org/drawingml/2006/main">
              <a:ext uri="{FF2B5EF4-FFF2-40B4-BE49-F238E27FC236}">
                <a16:creationId xmlns:a16="http://schemas.microsoft.com/office/drawing/2014/main" id="{34250EDD-6906-41E3-A280-16A30DCB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"/>
            <a:ext cx="276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ПЛАН И ФАКТ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342900" y="962025"/>
          <a:ext xmlns:a="http://schemas.openxmlformats.org/drawingml/2006/main" cx="5657850" cy="5276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4c057a85e4495a"/>
          </a:graphicData>
        </a:graphic>
      </p:graphicFrame>
      <p:sp>
        <p:nvSpPr>
          <p:cNvPr id="18" name="chart-example-note">
            <a:extLst xmlns:a="http://schemas.openxmlformats.org/drawingml/2006/main">
              <a:ext uri="{FF2B5EF4-FFF2-40B4-BE49-F238E27FC236}">
                <a16:creationId xmlns:a16="http://schemas.microsoft.com/office/drawing/2014/main" id="{94709F8F-112A-4718-B690-F08132A3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547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Модельный пример одного периода · монеты условные</a:t>
            </a:r>
          </a:p>
        </p:txBody>
      </p:sp>
      <p:sp>
        <p:nvSpPr>
          <p:cNvPr id="19" name="chart-plan-title">
            <a:extLst xmlns:a="http://schemas.openxmlformats.org/drawingml/2006/main">
              <a:ext uri="{FF2B5EF4-FFF2-40B4-BE49-F238E27FC236}">
                <a16:creationId xmlns:a16="http://schemas.microsoft.com/office/drawing/2014/main" id="{3CE1C47B-A960-4304-8AB2-A4FC49A9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57275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100 монет на старте</a:t>
            </a:r>
          </a:p>
        </p:txBody>
      </p:sp>
      <p:sp>
        <p:nvSpPr>
          <p:cNvPr id="20" name="chart-plan-body">
            <a:extLst xmlns:a="http://schemas.openxmlformats.org/drawingml/2006/main">
              <a:ext uri="{FF2B5EF4-FFF2-40B4-BE49-F238E27FC236}">
                <a16:creationId xmlns:a16="http://schemas.microsoft.com/office/drawing/2014/main" id="{86759450-F3D5-4246-8F27-30AAAB9F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668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План: 45 обязательное · 25 желание · 30 копилка</a:t>
            </a:r>
          </a:p>
        </p:txBody>
      </p:sp>
      <p:sp>
        <p:nvSpPr>
          <p:cNvPr id="21" name="chart-fact-title">
            <a:extLst xmlns:a="http://schemas.openxmlformats.org/drawingml/2006/main">
              <a:ext uri="{FF2B5EF4-FFF2-40B4-BE49-F238E27FC236}">
                <a16:creationId xmlns:a16="http://schemas.microsoft.com/office/drawing/2014/main" id="{41B03AAA-055A-4FD7-9DF0-D91CB54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241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90 монет распределено</a:t>
            </a:r>
          </a:p>
        </p:txBody>
      </p:sp>
      <p:sp>
        <p:nvSpPr>
          <p:cNvPr id="22" name="chart-fact-body">
            <a:extLst xmlns:a="http://schemas.openxmlformats.org/drawingml/2006/main">
              <a:ext uri="{FF2B5EF4-FFF2-40B4-BE49-F238E27FC236}">
                <a16:creationId xmlns:a16="http://schemas.microsoft.com/office/drawing/2014/main" id="{E3E40604-B005-4082-B204-296AB3D5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337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Модельный факт: корм 35 · кепка 25 · накоплено 30</a:t>
            </a:r>
          </a:p>
        </p:txBody>
      </p:sp>
      <p:sp>
        <p:nvSpPr>
          <p:cNvPr id="23" name="chart-remaining-title">
            <a:extLst xmlns:a="http://schemas.openxmlformats.org/drawingml/2006/main">
              <a:ext uri="{FF2B5EF4-FFF2-40B4-BE49-F238E27FC236}">
                <a16:creationId xmlns:a16="http://schemas.microsoft.com/office/drawing/2014/main" id="{06D24285-0622-4CA3-8017-FB51CB8B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76800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10 монет осталось</a:t>
            </a:r>
          </a:p>
        </p:txBody>
      </p:sp>
      <p:sp>
        <p:nvSpPr>
          <p:cNvPr id="24" name="chart-remaining-body">
            <a:extLst xmlns:a="http://schemas.openxmlformats.org/drawingml/2006/main">
              <a:ext uri="{FF2B5EF4-FFF2-40B4-BE49-F238E27FC236}">
                <a16:creationId xmlns:a16="http://schemas.microsoft.com/office/drawing/2014/main" id="{66E5F7D7-9C22-4BD1-A370-8A0449B3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864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Остаток остаётся доступным. План можно скорректировать до подтверждения.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4f80d140d1c477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 5">
            <a:extLst xmlns:a="http://schemas.openxmlformats.org/drawingml/2006/main"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90" y="370426"/>
            <a:ext cx="5562510" cy="4423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521133" y="1695025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21133" y="2552035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21133" y="3409044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521133" y="4266053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521133" y="5123063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41475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accent5"/>
                </a:solidFill>
              </a:rPr>
              <a:t>5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88BF2E74-4035-414D-BFDB-1A6A6D71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1604660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B62F2B6D-678A-41E8-A2FB-D07A4F32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246553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F4EEBB6D-8CD4-46B9-89CF-632ADEC6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334286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Прямая соединительная линия 13">
            <a:extLst xmlns:a="http://schemas.openxmlformats.org/drawingml/2006/main">
              <a:ext uri="{FF2B5EF4-FFF2-40B4-BE49-F238E27FC236}">
                <a16:creationId xmlns:a16="http://schemas.microsoft.com/office/drawing/2014/main" id="{847CF4D5-24A8-49D2-BB88-EEC09456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418312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Прямая соединительная линия 14">
            <a:extLst xmlns:a="http://schemas.openxmlformats.org/drawingml/2006/main">
              <a:ext uri="{FF2B5EF4-FFF2-40B4-BE49-F238E27FC236}">
                <a16:creationId xmlns:a16="http://schemas.microsoft.com/office/drawing/2014/main" id="{09116292-D43E-44ED-BC40-3A31C2DB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5048098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growth-title">
            <a:extLst xmlns:a="http://schemas.openxmlformats.org/drawingml/2006/main">
              <a:ext uri="{FF2B5EF4-FFF2-40B4-BE49-F238E27FC236}">
                <a16:creationId xmlns:a16="http://schemas.microsoft.com/office/drawing/2014/main" id="{0070D382-6721-47CC-BB52-0277D31A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РОСТ ПОСЛЕ НЕСКОЛЬКИХ ПЕРИОДОВ</a:t>
            </a:r>
          </a:p>
        </p:txBody>
      </p:sp>
      <p:sp>
        <p:nvSpPr>
          <p:cNvPr id="23" name="growth-label-1">
            <a:extLst xmlns:a="http://schemas.openxmlformats.org/drawingml/2006/main">
              <a:ext uri="{FF2B5EF4-FFF2-40B4-BE49-F238E27FC236}">
                <a16:creationId xmlns:a16="http://schemas.microsoft.com/office/drawing/2014/main" id="{4E0E9E4F-132F-42EA-88F9-B9561EEA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66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Старт</a:t>
            </a:r>
          </a:p>
        </p:txBody>
      </p:sp>
      <p:sp>
        <p:nvSpPr>
          <p:cNvPr id="24" name="growth-detail-1">
            <a:extLst xmlns:a="http://schemas.openxmlformats.org/drawingml/2006/main">
              <a:ext uri="{FF2B5EF4-FFF2-40B4-BE49-F238E27FC236}">
                <a16:creationId xmlns:a16="http://schemas.microsoft.com/office/drawing/2014/main" id="{72D29A60-DB7B-4598-B8AF-9D900C82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14500"/>
            <a:ext cx="604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100 монет на кошельке. Игрок выбирает образ и впервые составляет план.</a:t>
            </a:r>
          </a:p>
        </p:txBody>
      </p:sp>
      <p:sp>
        <p:nvSpPr>
          <p:cNvPr id="25" name="growth-label-2">
            <a:extLst xmlns:a="http://schemas.openxmlformats.org/drawingml/2006/main">
              <a:ext uri="{FF2B5EF4-FFF2-40B4-BE49-F238E27FC236}">
                <a16:creationId xmlns:a16="http://schemas.microsoft.com/office/drawing/2014/main" id="{B0CDB91C-86FA-4F94-B30F-1E23C3A0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466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После 1 периода</a:t>
            </a:r>
          </a:p>
        </p:txBody>
      </p:sp>
      <p:sp>
        <p:nvSpPr>
          <p:cNvPr id="26" name="growth-detail-2">
            <a:extLst xmlns:a="http://schemas.openxmlformats.org/drawingml/2006/main">
              <a:ext uri="{FF2B5EF4-FFF2-40B4-BE49-F238E27FC236}">
                <a16:creationId xmlns:a16="http://schemas.microsoft.com/office/drawing/2014/main" id="{958F2E24-379E-4FEA-83EA-2F13B0B5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62225"/>
            <a:ext cx="604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Итог показывает покупки и накопления; различие с планом предлагает следующий шаг.</a:t>
            </a:r>
          </a:p>
        </p:txBody>
      </p:sp>
      <p:sp>
        <p:nvSpPr>
          <p:cNvPr id="27" name="growth-label-3">
            <a:extLst xmlns:a="http://schemas.openxmlformats.org/drawingml/2006/main">
              <a:ext uri="{FF2B5EF4-FFF2-40B4-BE49-F238E27FC236}">
                <a16:creationId xmlns:a16="http://schemas.microsoft.com/office/drawing/2014/main" id="{61DE8EDB-9F45-4E19-9144-12622521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466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После 2 успешных</a:t>
            </a:r>
          </a:p>
        </p:txBody>
      </p:sp>
      <p:sp>
        <p:nvSpPr>
          <p:cNvPr id="28" name="growth-detail-3">
            <a:extLst xmlns:a="http://schemas.openxmlformats.org/drawingml/2006/main">
              <a:ext uri="{FF2B5EF4-FFF2-40B4-BE49-F238E27FC236}">
                <a16:creationId xmlns:a16="http://schemas.microsoft.com/office/drawing/2014/main" id="{0D298238-1A27-4CCA-990A-4B428B16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604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Финни переходит на стадию «Подрос»; учитывается нужная покупка, план и взнос в копилку.</a:t>
            </a:r>
          </a:p>
        </p:txBody>
      </p:sp>
      <p:sp>
        <p:nvSpPr>
          <p:cNvPr id="29" name="growth-label-4">
            <a:extLst xmlns:a="http://schemas.openxmlformats.org/drawingml/2006/main">
              <a:ext uri="{FF2B5EF4-FFF2-40B4-BE49-F238E27FC236}">
                <a16:creationId xmlns:a16="http://schemas.microsoft.com/office/drawing/2014/main" id="{AB445CBF-62DC-4DD0-BC8F-1A314A60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466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Периоды 3–4</a:t>
            </a:r>
          </a:p>
        </p:txBody>
      </p:sp>
      <p:sp>
        <p:nvSpPr>
          <p:cNvPr id="30" name="growth-detail-4">
            <a:extLst xmlns:a="http://schemas.openxmlformats.org/drawingml/2006/main">
              <a:ext uri="{FF2B5EF4-FFF2-40B4-BE49-F238E27FC236}">
                <a16:creationId xmlns:a16="http://schemas.microsoft.com/office/drawing/2014/main" id="{98DDCF80-4176-4677-940E-EFA9717D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76725"/>
            <a:ext cx="604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Условия роста остаются понятными. Неудачный выбор не обнуляет уже достигнутый прогресс.</a:t>
            </a:r>
          </a:p>
        </p:txBody>
      </p:sp>
      <p:sp>
        <p:nvSpPr>
          <p:cNvPr id="31" name="growth-label-5">
            <a:extLst xmlns:a="http://schemas.openxmlformats.org/drawingml/2006/main">
              <a:ext uri="{FF2B5EF4-FFF2-40B4-BE49-F238E27FC236}">
                <a16:creationId xmlns:a16="http://schemas.microsoft.com/office/drawing/2014/main" id="{F5A75672-CB89-4163-9BE0-13E59F38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33975"/>
            <a:ext cx="466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После 5 успешных</a:t>
            </a:r>
          </a:p>
        </p:txBody>
      </p:sp>
      <p:sp>
        <p:nvSpPr>
          <p:cNvPr id="32" name="growth-detail-5">
            <a:extLst xmlns:a="http://schemas.openxmlformats.org/drawingml/2006/main">
              <a:ext uri="{FF2B5EF4-FFF2-40B4-BE49-F238E27FC236}">
                <a16:creationId xmlns:a16="http://schemas.microsoft.com/office/drawing/2014/main" id="{3C0152EC-10D8-40EC-A14F-7A1D1106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133975"/>
            <a:ext cx="604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Открывается третья стадия «Большой друг». В деморежиме периоды проходят без ожидания.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432d1eefb46431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77" y="1522006"/>
            <a:ext cx="3399397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chemeClr val="accent5"/>
                </a:solidFill>
              </a:rPr>
              <a:t>6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80565" y="2493074"/>
            <a:ext cx="2965634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780565" y="3128740"/>
            <a:ext cx="2965633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4623178" y="2493074"/>
            <a:ext cx="303489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4623178" y="3128740"/>
            <a:ext cx="3034896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8547959" y="2493074"/>
            <a:ext cx="2945464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8547959" y="3128740"/>
            <a:ext cx="2945464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6" y="335426"/>
            <a:ext cx="11331221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780565" y="1772415"/>
            <a:ext cx="1311031" cy="6011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4615219" y="1766200"/>
            <a:ext cx="1311031" cy="5729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8547959" y="1766043"/>
            <a:ext cx="1311031" cy="5731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22" name="learning-title">
            <a:extLst xmlns:a="http://schemas.openxmlformats.org/drawingml/2006/main">
              <a:ext uri="{FF2B5EF4-FFF2-40B4-BE49-F238E27FC236}">
                <a16:creationId xmlns:a16="http://schemas.microsoft.com/office/drawing/2014/main" id="{E53EC59B-96A0-41C4-9DD9-0C4048C2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ТРИ ТЕМЫ — РЕАЛЬНЫЕ ДЕЙСТВИЯ</a:t>
            </a:r>
          </a:p>
        </p:txBody>
      </p:sp>
      <p:sp>
        <p:nvSpPr>
          <p:cNvPr id="23" name="learning-tag-0">
            <a:extLst xmlns:a="http://schemas.openxmlformats.org/drawingml/2006/main">
              <a:ext uri="{FF2B5EF4-FFF2-40B4-BE49-F238E27FC236}">
                <a16:creationId xmlns:a16="http://schemas.microsoft.com/office/drawing/2014/main" id="{EEA9672D-0D52-444A-8BD4-2EC27FCB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ТЕМА 01</a:t>
            </a:r>
          </a:p>
        </p:txBody>
      </p:sp>
      <p:sp>
        <p:nvSpPr>
          <p:cNvPr id="24" name="learning-head-0">
            <a:extLst xmlns:a="http://schemas.openxmlformats.org/drawingml/2006/main">
              <a:ext uri="{FF2B5EF4-FFF2-40B4-BE49-F238E27FC236}">
                <a16:creationId xmlns:a16="http://schemas.microsoft.com/office/drawing/2014/main" id="{A87D8A09-74F5-4B01-B197-F6125842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Планирование бюджета</a:t>
            </a:r>
          </a:p>
        </p:txBody>
      </p:sp>
      <p:sp>
        <p:nvSpPr>
          <p:cNvPr id="25" name="learning-body-0">
            <a:extLst xmlns:a="http://schemas.openxmlformats.org/drawingml/2006/main">
              <a:ext uri="{FF2B5EF4-FFF2-40B4-BE49-F238E27FC236}">
                <a16:creationId xmlns:a16="http://schemas.microsoft.com/office/drawing/2014/main" id="{BD792AA6-E1D7-410F-9E3F-9A8F58F5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30003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Составить план по трём направлениям.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Увидеть свободный остаток.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Сравнить суммы плана с фактическими покупками и накоплениями.</a:t>
            </a:r>
          </a:p>
        </p:txBody>
      </p:sp>
      <p:sp>
        <p:nvSpPr>
          <p:cNvPr id="26" name="learning-tag-1">
            <a:extLst xmlns:a="http://schemas.openxmlformats.org/drawingml/2006/main">
              <a:ext uri="{FF2B5EF4-FFF2-40B4-BE49-F238E27FC236}">
                <a16:creationId xmlns:a16="http://schemas.microsoft.com/office/drawing/2014/main" id="{8D8726FB-6049-4D47-BC43-6E5EDDF6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907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ТЕМА 02</a:t>
            </a:r>
          </a:p>
        </p:txBody>
      </p:sp>
      <p:sp>
        <p:nvSpPr>
          <p:cNvPr id="27" name="learning-head-1">
            <a:extLst xmlns:a="http://schemas.openxmlformats.org/drawingml/2006/main">
              <a:ext uri="{FF2B5EF4-FFF2-40B4-BE49-F238E27FC236}">
                <a16:creationId xmlns:a16="http://schemas.microsoft.com/office/drawing/2014/main" id="{74BE798D-A12B-4BC8-9B68-2E021D99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Сбережения</a:t>
            </a:r>
          </a:p>
        </p:txBody>
      </p:sp>
      <p:sp>
        <p:nvSpPr>
          <p:cNvPr id="28" name="learning-body-1">
            <a:extLst xmlns:a="http://schemas.openxmlformats.org/drawingml/2006/main">
              <a:ext uri="{FF2B5EF4-FFF2-40B4-BE49-F238E27FC236}">
                <a16:creationId xmlns:a16="http://schemas.microsoft.com/office/drawing/2014/main" id="{9A5AC226-1F19-4F03-8609-379209EA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33725"/>
            <a:ext cx="30003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Выбрать понятную цель и её стоимость.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Перевести часть монет в отдельную копилку.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Понять, как снятие влияет на срок достижения цели.</a:t>
            </a:r>
          </a:p>
        </p:txBody>
      </p:sp>
      <p:sp>
        <p:nvSpPr>
          <p:cNvPr id="29" name="learning-tag-2">
            <a:extLst xmlns:a="http://schemas.openxmlformats.org/drawingml/2006/main">
              <a:ext uri="{FF2B5EF4-FFF2-40B4-BE49-F238E27FC236}">
                <a16:creationId xmlns:a16="http://schemas.microsoft.com/office/drawing/2014/main" id="{415D19AA-25F7-4081-9C26-85F6F0BB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907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ТЕМА 03</a:t>
            </a:r>
          </a:p>
        </p:txBody>
      </p:sp>
      <p:sp>
        <p:nvSpPr>
          <p:cNvPr id="30" name="learning-head-2">
            <a:extLst xmlns:a="http://schemas.openxmlformats.org/drawingml/2006/main">
              <a:ext uri="{FF2B5EF4-FFF2-40B4-BE49-F238E27FC236}">
                <a16:creationId xmlns:a16="http://schemas.microsoft.com/office/drawing/2014/main" id="{F0599690-34B6-4E8A-95E1-3D1C1223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0507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Покупки и платежи</a:t>
            </a:r>
          </a:p>
        </p:txBody>
      </p:sp>
      <p:sp>
        <p:nvSpPr>
          <p:cNvPr id="31" name="learning-body-2">
            <a:extLst xmlns:a="http://schemas.openxmlformats.org/drawingml/2006/main">
              <a:ext uri="{FF2B5EF4-FFF2-40B4-BE49-F238E27FC236}">
                <a16:creationId xmlns:a16="http://schemas.microsoft.com/office/drawing/2014/main" id="{748B32F1-9036-4AE1-9B35-2C3497A3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33725"/>
            <a:ext cx="30003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Проверить цену и категорию товара.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Различить обязательную покупку и желание.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Решить: купить сейчас или отложить.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f3eba7ad21a487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425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3123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chemeClr val="bg1"/>
                </a:solidFill>
              </a:rPr>
              <a:t>7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520913" y="2339783"/>
            <a:ext cx="2284071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20913" y="3128740"/>
            <a:ext cx="2284071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3457903" y="2373557"/>
            <a:ext cx="233741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3457903" y="3134070"/>
            <a:ext cx="2337416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6456363" y="2379657"/>
            <a:ext cx="2268537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456363" y="3136604"/>
            <a:ext cx="2268537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9407534" y="2339783"/>
            <a:ext cx="226355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9407534" y="3128739"/>
            <a:ext cx="2263553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772416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3449944" y="1766200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456363" y="1766043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9407534" y="1772416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8" name="mvp-title">
            <a:extLst xmlns:a="http://schemas.openxmlformats.org/drawingml/2006/main">
              <a:ext uri="{FF2B5EF4-FFF2-40B4-BE49-F238E27FC236}">
                <a16:creationId xmlns:a16="http://schemas.microsoft.com/office/drawing/2014/main" id="{F297DFC4-E719-4E76-8860-29298B83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985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ЧТО ВХОДИТ В MVP</a:t>
            </a:r>
          </a:p>
        </p:txBody>
      </p:sp>
      <p:sp>
        <p:nvSpPr>
          <p:cNvPr id="29" name="mvp-number-0">
            <a:extLst xmlns:a="http://schemas.openxmlformats.org/drawingml/2006/main">
              <a:ext uri="{FF2B5EF4-FFF2-40B4-BE49-F238E27FC236}">
                <a16:creationId xmlns:a16="http://schemas.microsoft.com/office/drawing/2014/main" id="{CDACD09C-0EFC-4805-94DF-4560D8FC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7716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30" name="mvp-head-0">
            <a:extLst xmlns:a="http://schemas.openxmlformats.org/drawingml/2006/main">
              <a:ext uri="{FF2B5EF4-FFF2-40B4-BE49-F238E27FC236}">
                <a16:creationId xmlns:a16="http://schemas.microsoft.com/office/drawing/2014/main" id="{79C76736-1DD4-44CF-A8B9-FC0A24DD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Питомец и рост</a:t>
            </a:r>
          </a:p>
        </p:txBody>
      </p:sp>
      <p:sp>
        <p:nvSpPr>
          <p:cNvPr id="31" name="mvp-body-0">
            <a:extLst xmlns:a="http://schemas.openxmlformats.org/drawingml/2006/main">
              <a:ext uri="{FF2B5EF4-FFF2-40B4-BE49-F238E27FC236}">
                <a16:creationId xmlns:a16="http://schemas.microsoft.com/office/drawing/2014/main" id="{FFDF6A5F-42E0-4C28-8B36-F37BA7F5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2286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3 вида × 3 цвета комнаты = 9 сочетаний.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У каждого питомца 3 отдельных рисунка стадий роста.</a:t>
            </a:r>
          </a:p>
        </p:txBody>
      </p:sp>
      <p:sp>
        <p:nvSpPr>
          <p:cNvPr id="32" name="mvp-number-1">
            <a:extLst xmlns:a="http://schemas.openxmlformats.org/drawingml/2006/main">
              <a:ext uri="{FF2B5EF4-FFF2-40B4-BE49-F238E27FC236}">
                <a16:creationId xmlns:a16="http://schemas.microsoft.com/office/drawing/2014/main" id="{39C9004F-0EE5-47D3-A93D-1F9EC1B8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7716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33" name="mvp-head-1">
            <a:extLst xmlns:a="http://schemas.openxmlformats.org/drawingml/2006/main">
              <a:ext uri="{FF2B5EF4-FFF2-40B4-BE49-F238E27FC236}">
                <a16:creationId xmlns:a16="http://schemas.microsoft.com/office/drawing/2014/main" id="{ED1B5656-F4FE-4FB6-BC9C-5B6504BC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622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Экономика</a:t>
            </a:r>
          </a:p>
        </p:txBody>
      </p:sp>
      <p:sp>
        <p:nvSpPr>
          <p:cNvPr id="34" name="mvp-body-1">
            <a:extLst xmlns:a="http://schemas.openxmlformats.org/drawingml/2006/main">
              <a:ext uri="{FF2B5EF4-FFF2-40B4-BE49-F238E27FC236}">
                <a16:creationId xmlns:a16="http://schemas.microsoft.com/office/drawing/2014/main" id="{9CB9F104-ED64-4BC5-86F9-F0BBA5F9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52775"/>
            <a:ext cx="23336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8 товаров с ценой и эффектом.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Подтверждение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Баланс не уходит ниже нуля.</a:t>
            </a:r>
          </a:p>
        </p:txBody>
      </p:sp>
      <p:sp>
        <p:nvSpPr>
          <p:cNvPr id="35" name="mvp-number-2">
            <a:extLst xmlns:a="http://schemas.openxmlformats.org/drawingml/2006/main">
              <a:ext uri="{FF2B5EF4-FFF2-40B4-BE49-F238E27FC236}">
                <a16:creationId xmlns:a16="http://schemas.microsoft.com/office/drawing/2014/main" id="{F1E6A903-1940-4A4E-B9FA-BF8452FB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716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36" name="mvp-head-2">
            <a:extLst xmlns:a="http://schemas.openxmlformats.org/drawingml/2006/main">
              <a:ext uri="{FF2B5EF4-FFF2-40B4-BE49-F238E27FC236}">
                <a16:creationId xmlns:a16="http://schemas.microsoft.com/office/drawing/2014/main" id="{D66E13E8-4F06-4FCC-AAFF-B037390C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Учебные задания</a:t>
            </a:r>
          </a:p>
        </p:txBody>
      </p:sp>
      <p:sp>
        <p:nvSpPr>
          <p:cNvPr id="37" name="mvp-body-2">
            <a:extLst xmlns:a="http://schemas.openxmlformats.org/drawingml/2006/main">
              <a:ext uri="{FF2B5EF4-FFF2-40B4-BE49-F238E27FC236}">
                <a16:creationId xmlns:a16="http://schemas.microsoft.com/office/drawing/2014/main" id="{90A92F51-299E-4C06-BF18-60661466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52775"/>
            <a:ext cx="2266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6 сценариев по 3 темам.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Игровые монеты за действие.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Пояснение результата.</a:t>
            </a:r>
          </a:p>
        </p:txBody>
      </p:sp>
      <p:sp>
        <p:nvSpPr>
          <p:cNvPr id="38" name="mvp-number-3">
            <a:extLst xmlns:a="http://schemas.openxmlformats.org/drawingml/2006/main">
              <a:ext uri="{FF2B5EF4-FFF2-40B4-BE49-F238E27FC236}">
                <a16:creationId xmlns:a16="http://schemas.microsoft.com/office/drawing/2014/main" id="{F46C9F12-2497-4063-8435-CEE7903D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716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39" name="mvp-head-3">
            <a:extLst xmlns:a="http://schemas.openxmlformats.org/drawingml/2006/main">
              <a:ext uri="{FF2B5EF4-FFF2-40B4-BE49-F238E27FC236}">
                <a16:creationId xmlns:a16="http://schemas.microsoft.com/office/drawing/2014/main" id="{34E81A9A-855E-4EC0-B70B-A7ECFD37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6220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Данные и забота</a:t>
            </a:r>
          </a:p>
        </p:txBody>
      </p:sp>
      <p:sp>
        <p:nvSpPr>
          <p:cNvPr id="40" name="mvp-body-3">
            <a:extLst xmlns:a="http://schemas.openxmlformats.org/drawingml/2006/main">
              <a:ext uri="{FF2B5EF4-FFF2-40B4-BE49-F238E27FC236}">
                <a16:creationId xmlns:a16="http://schemas.microsoft.com/office/drawing/2014/main" id="{FCDC82C3-D4A1-4650-BAAF-8D7589F9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52775"/>
            <a:ext cx="2266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Офлайн-профиль.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Без рекламы и оплаты.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Сброс и удаление профиля.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066224557b6457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rPr>
                <a:solidFill>
                  <a:schemeClr val="accent5"/>
                </a:solidFill>
              </a:rPr>
              <a:t>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159F9D24-4F39-404D-8D2A-25739BBF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"/>
            <a:ext cx="985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ПРИВАТНОСТЬ И ЗАБОТА</a:t>
            </a:r>
          </a:p>
        </p:txBody>
      </p:sp>
      <p:sp>
        <p:nvSpPr>
          <p:cNvPr id="25" name="safety-card-0">
            <a:extLst xmlns:a="http://schemas.openxmlformats.org/drawingml/2006/main">
              <a:ext uri="{FF2B5EF4-FFF2-40B4-BE49-F238E27FC236}">
                <a16:creationId xmlns:a16="http://schemas.microsoft.com/office/drawing/2014/main" id="{22B7297C-ADD1-4132-9FFF-788F15F6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33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8E2"/>
            </a:solidFill>
          </a:ln>
        </p:spPr>
      </p:sp>
      <p:sp>
        <p:nvSpPr>
          <p:cNvPr id="26" name="safety-head-0">
            <a:extLst xmlns:a="http://schemas.openxmlformats.org/drawingml/2006/main">
              <a:ext uri="{FF2B5EF4-FFF2-40B4-BE49-F238E27FC236}">
                <a16:creationId xmlns:a16="http://schemas.microsoft.com/office/drawing/2014/main" id="{59BAA5D3-FF73-43E0-80FE-22568FC8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Только игровая валюта</a:t>
            </a:r>
          </a:p>
        </p:txBody>
      </p:sp>
      <p:sp>
        <p:nvSpPr>
          <p:cNvPr id="27" name="safety-body-0">
            <a:extLst xmlns:a="http://schemas.openxmlformats.org/drawingml/2006/main">
              <a:ext uri="{FF2B5EF4-FFF2-40B4-BE49-F238E27FC236}">
                <a16:creationId xmlns:a16="http://schemas.microsoft.com/office/drawing/2014/main" id="{E8788D5C-15A8-4C81-BB9E-49A5228E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90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Монеты нельзя купить, обменять или получить как настоящий приз.</a:t>
            </a:r>
          </a:p>
        </p:txBody>
      </p:sp>
      <p:sp>
        <p:nvSpPr>
          <p:cNvPr id="28" name="safety-card-1">
            <a:extLst xmlns:a="http://schemas.openxmlformats.org/drawingml/2006/main">
              <a:ext uri="{FF2B5EF4-FFF2-40B4-BE49-F238E27FC236}">
                <a16:creationId xmlns:a16="http://schemas.microsoft.com/office/drawing/2014/main" id="{7A89D788-C25D-45FB-8C7F-46CB6187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533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0F8"/>
          </a:solidFill>
          <a:ln xmlns:a="http://schemas.openxmlformats.org/drawingml/2006/main" w="11430">
            <a:solidFill>
              <a:srgbClr val="D8C8E2"/>
            </a:solidFill>
          </a:ln>
        </p:spPr>
      </p:sp>
      <p:sp>
        <p:nvSpPr>
          <p:cNvPr id="29" name="safety-head-1">
            <a:extLst xmlns:a="http://schemas.openxmlformats.org/drawingml/2006/main">
              <a:ext uri="{FF2B5EF4-FFF2-40B4-BE49-F238E27FC236}">
                <a16:creationId xmlns:a16="http://schemas.microsoft.com/office/drawing/2014/main" id="{E30A22E3-3C2C-40EB-B6C3-96AA2ABD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430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Без стыда и наказаний</a:t>
            </a:r>
          </a:p>
        </p:txBody>
      </p:sp>
      <p:sp>
        <p:nvSpPr>
          <p:cNvPr id="30" name="safety-body-1">
            <a:extLst xmlns:a="http://schemas.openxmlformats.org/drawingml/2006/main">
              <a:ext uri="{FF2B5EF4-FFF2-40B4-BE49-F238E27FC236}">
                <a16:creationId xmlns:a16="http://schemas.microsoft.com/office/drawing/2014/main" id="{2AEDFC45-E5AE-4E0B-A7DE-43902036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490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Нет рейтингов и потери прогресса за ошибку или пропуск дня.</a:t>
            </a:r>
          </a:p>
        </p:txBody>
      </p:sp>
      <p:sp>
        <p:nvSpPr>
          <p:cNvPr id="31" name="safety-card-2">
            <a:extLst xmlns:a="http://schemas.openxmlformats.org/drawingml/2006/main">
              <a:ext uri="{FF2B5EF4-FFF2-40B4-BE49-F238E27FC236}">
                <a16:creationId xmlns:a16="http://schemas.microsoft.com/office/drawing/2014/main" id="{57DC3D90-5ECA-4C94-A356-C58FEF17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533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8E2"/>
            </a:solidFill>
          </a:ln>
        </p:spPr>
      </p:sp>
      <p:sp>
        <p:nvSpPr>
          <p:cNvPr id="32" name="safety-head-2">
            <a:extLst xmlns:a="http://schemas.openxmlformats.org/drawingml/2006/main">
              <a:ext uri="{FF2B5EF4-FFF2-40B4-BE49-F238E27FC236}">
                <a16:creationId xmlns:a16="http://schemas.microsoft.com/office/drawing/2014/main" id="{1426F8FE-542B-4AAA-AE75-D6B43CAC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Подтверждение выбора</a:t>
            </a:r>
          </a:p>
        </p:txBody>
      </p:sp>
      <p:sp>
        <p:nvSpPr>
          <p:cNvPr id="33" name="safety-body-2">
            <a:extLst xmlns:a="http://schemas.openxmlformats.org/drawingml/2006/main">
              <a:ext uri="{FF2B5EF4-FFF2-40B4-BE49-F238E27FC236}">
                <a16:creationId xmlns:a16="http://schemas.microsoft.com/office/drawing/2014/main" id="{0A62CCB0-D6C4-4FD7-8D10-2DE471A3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490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До покупки, перевода или снятия показаны сумма и последствия.</a:t>
            </a:r>
          </a:p>
        </p:txBody>
      </p:sp>
      <p:sp>
        <p:nvSpPr>
          <p:cNvPr id="34" name="safety-card-3">
            <a:extLst xmlns:a="http://schemas.openxmlformats.org/drawingml/2006/main">
              <a:ext uri="{FF2B5EF4-FFF2-40B4-BE49-F238E27FC236}">
                <a16:creationId xmlns:a16="http://schemas.microsoft.com/office/drawing/2014/main" id="{1F3FC182-6873-4D45-8EF8-65E652D5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533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0F8"/>
          </a:solidFill>
          <a:ln xmlns:a="http://schemas.openxmlformats.org/drawingml/2006/main" w="11430">
            <a:solidFill>
              <a:srgbClr val="D8C8E2"/>
            </a:solidFill>
          </a:ln>
        </p:spPr>
      </p:sp>
      <p:sp>
        <p:nvSpPr>
          <p:cNvPr id="35" name="safety-head-3">
            <a:extLst xmlns:a="http://schemas.openxmlformats.org/drawingml/2006/main">
              <a:ext uri="{FF2B5EF4-FFF2-40B4-BE49-F238E27FC236}">
                <a16:creationId xmlns:a16="http://schemas.microsoft.com/office/drawing/2014/main" id="{23CFB914-BCCE-4461-881F-AB01371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Локально и офлайн</a:t>
            </a:r>
          </a:p>
        </p:txBody>
      </p:sp>
      <p:sp>
        <p:nvSpPr>
          <p:cNvPr id="36" name="safety-body-3">
            <a:extLst xmlns:a="http://schemas.openxmlformats.org/drawingml/2006/main">
              <a:ext uri="{FF2B5EF4-FFF2-40B4-BE49-F238E27FC236}">
                <a16:creationId xmlns:a16="http://schemas.microsoft.com/office/drawing/2014/main" id="{1C416C31-7776-476A-BBBC-D8549D60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0950"/>
            <a:ext cx="490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Нет аккаунта, сети, рекламы и разрешений Android; профиль хранится на устройстве.</a:t>
            </a:r>
          </a:p>
        </p:txBody>
      </p:sp>
      <p:sp>
        <p:nvSpPr>
          <p:cNvPr id="37" name="safety-note">
            <a:extLst xmlns:a="http://schemas.openxmlformats.org/drawingml/2006/main">
              <a:ext uri="{FF2B5EF4-FFF2-40B4-BE49-F238E27FC236}">
                <a16:creationId xmlns:a16="http://schemas.microsoft.com/office/drawing/2014/main" id="{0D801B4F-1ECF-4CAE-B072-32EC5B82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82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5D6D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55D6D"/>
                </a:solidFill>
                <a:latin typeface="Montserrat"/>
                <a:ea typeface="Montserrat"/>
                <a:cs typeface="Montserrat"/>
              </a:rPr>
              <a:t>Раздел взрослого использует простой барьер от случайного перехода; это не защищённая аутентификация.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f33bbc97d6445e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1366423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2377094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3387765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4398436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5409107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366423"/>
            <a:ext cx="5389562" cy="4834352"/>
          </a:xfrm>
          <a:prstGeom xmlns:a="http://schemas.openxmlformats.org/drawingml/2006/main" prst="roundRect">
            <a:avLst>
              <a:gd name="adj" fmla="val 291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23887" y="1732103"/>
            <a:ext cx="4734175" cy="4139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172730" y="1445505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172730" y="247287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172730" y="348592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172730" y="4496593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172730" y="5516924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 xmlns:a="http://schemas.openxmlformats.org/drawingml/2006/main"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3200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rPr>
                <a:solidFill>
                  <a:schemeClr val="accent5"/>
                </a:solidFill>
              </a:rPr>
              <a:t>9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254C6263-BAA2-4257-8722-1384AE1A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"/>
            <a:ext cx="985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ПРОСТАЯ ОФЛАЙН-АРХИТЕКТУРА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f0c7d32fe4fbc"/>
          <a:stretch xmlns:a="http://schemas.openxmlformats.org/drawingml/2006/main"/>
        </p:blipFill>
        <p:spPr>
          <a:xfrm xmlns:a="http://schemas.openxmlformats.org/drawingml/2006/main">
            <a:off x="1651397" y="1428750"/>
            <a:ext cx="2678906" cy="4762500"/>
          </a:xfrm>
          <a:prstGeom xmlns:a="http://schemas.openxmlformats.org/drawingml/2006/main" prst="rect">
            <a:avLst/>
          </a:prstGeom>
        </p:spPr>
      </p:pic>
      <p:sp>
        <p:nvSpPr>
          <p:cNvPr id="27" name="architecture-row-0-title">
            <a:extLst xmlns:a="http://schemas.openxmlformats.org/drawingml/2006/main">
              <a:ext uri="{FF2B5EF4-FFF2-40B4-BE49-F238E27FC236}">
                <a16:creationId xmlns:a16="http://schemas.microsoft.com/office/drawing/2014/main" id="{3DC13CF5-BAB9-4A6D-9912-D465B0E5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92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Интерфейс</a:t>
            </a:r>
          </a:p>
        </p:txBody>
      </p:sp>
      <p:sp>
        <p:nvSpPr>
          <p:cNvPr id="28" name="architecture-row-0-body">
            <a:extLst xmlns:a="http://schemas.openxmlformats.org/drawingml/2006/main">
              <a:ext uri="{FF2B5EF4-FFF2-40B4-BE49-F238E27FC236}">
                <a16:creationId xmlns:a16="http://schemas.microsoft.com/office/drawing/2014/main" id="{F7F9AF17-0D8E-4030-9A34-8646602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Нативные экраны и маршруты Android · MainActivity.java</a:t>
            </a:r>
          </a:p>
        </p:txBody>
      </p:sp>
      <p:sp>
        <p:nvSpPr>
          <p:cNvPr id="29" name="architecture-row-1-title">
            <a:extLst xmlns:a="http://schemas.openxmlformats.org/drawingml/2006/main">
              <a:ext uri="{FF2B5EF4-FFF2-40B4-BE49-F238E27FC236}">
                <a16:creationId xmlns:a16="http://schemas.microsoft.com/office/drawing/2014/main" id="{F225A857-2185-4FD0-9726-B506966F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Игровые правила</a:t>
            </a:r>
          </a:p>
        </p:txBody>
      </p:sp>
      <p:sp>
        <p:nvSpPr>
          <p:cNvPr id="30" name="architecture-row-1-body">
            <a:extLst xmlns:a="http://schemas.openxmlformats.org/drawingml/2006/main">
              <a:ext uri="{FF2B5EF4-FFF2-40B4-BE49-F238E27FC236}">
                <a16:creationId xmlns:a16="http://schemas.microsoft.com/office/drawing/2014/main" id="{51F21D1A-4D3C-478C-86CB-69A6C6BA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03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Баланс, план, покупки, цели, рост и история · GameState.java</a:t>
            </a:r>
          </a:p>
        </p:txBody>
      </p:sp>
      <p:sp>
        <p:nvSpPr>
          <p:cNvPr id="31" name="architecture-row-2-title">
            <a:extLst xmlns:a="http://schemas.openxmlformats.org/drawingml/2006/main">
              <a:ext uri="{FF2B5EF4-FFF2-40B4-BE49-F238E27FC236}">
                <a16:creationId xmlns:a16="http://schemas.microsoft.com/office/drawing/2014/main" id="{AFF02430-6A74-4CE1-8AB7-DDAE1279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480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Контент</a:t>
            </a:r>
          </a:p>
        </p:txBody>
      </p:sp>
      <p:sp>
        <p:nvSpPr>
          <p:cNvPr id="32" name="architecture-row-2-body">
            <a:extLst xmlns:a="http://schemas.openxmlformats.org/drawingml/2006/main">
              <a:ext uri="{FF2B5EF4-FFF2-40B4-BE49-F238E27FC236}">
                <a16:creationId xmlns:a16="http://schemas.microsoft.com/office/drawing/2014/main" id="{5482C8F0-FC0C-4922-A389-B390DC68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95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Задания и цены меняются в отдельных JSON-файлах</a:t>
            </a:r>
          </a:p>
        </p:txBody>
      </p:sp>
      <p:sp>
        <p:nvSpPr>
          <p:cNvPr id="33" name="architecture-row-3-title">
            <a:extLst xmlns:a="http://schemas.openxmlformats.org/drawingml/2006/main">
              <a:ext uri="{FF2B5EF4-FFF2-40B4-BE49-F238E27FC236}">
                <a16:creationId xmlns:a16="http://schemas.microsoft.com/office/drawing/2014/main" id="{DAB8B80B-4210-4180-B537-C25A8013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Хранение</a:t>
            </a:r>
          </a:p>
        </p:txBody>
      </p:sp>
      <p:sp>
        <p:nvSpPr>
          <p:cNvPr id="34" name="architecture-row-3-body">
            <a:extLst xmlns:a="http://schemas.openxmlformats.org/drawingml/2006/main">
              <a:ext uri="{FF2B5EF4-FFF2-40B4-BE49-F238E27FC236}">
                <a16:creationId xmlns:a16="http://schemas.microsoft.com/office/drawing/2014/main" id="{30653C6F-75ED-44CA-9C2D-284D46FB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291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Локальный JSON-профиль в SharedPreferences</a:t>
            </a:r>
          </a:p>
        </p:txBody>
      </p:sp>
      <p:sp>
        <p:nvSpPr>
          <p:cNvPr id="35" name="architecture-row-4-title">
            <a:extLst xmlns:a="http://schemas.openxmlformats.org/drawingml/2006/main">
              <a:ext uri="{FF2B5EF4-FFF2-40B4-BE49-F238E27FC236}">
                <a16:creationId xmlns:a16="http://schemas.microsoft.com/office/drawing/2014/main" id="{FAD6266F-6DEF-41C8-8666-FF3D8489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673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Сборка</a:t>
            </a:r>
          </a:p>
        </p:txBody>
      </p:sp>
      <p:sp>
        <p:nvSpPr>
          <p:cNvPr id="36" name="architecture-row-4-body">
            <a:extLst xmlns:a="http://schemas.openxmlformats.org/drawingml/2006/main">
              <a:ext uri="{FF2B5EF4-FFF2-40B4-BE49-F238E27FC236}">
                <a16:creationId xmlns:a16="http://schemas.microsoft.com/office/drawing/2014/main" id="{45118A07-E0E1-498C-AD9E-2860A8CA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388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Java · Android SDK 34 · minSdk 26 · пакет ru.moscow.finny.kids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f72390fa582485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3D2D50A4-F98A-4A5D-A666-B99022C8614B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oundRect">
            <a:avLst>
              <a:gd name="adj" fmla="val 6127"/>
            </a:avLst>
          </a:prstGeom>
        </p:spPr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5D0B644D-D790-48C2-BC35-EDB0C7DDBBE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prstGeom xmlns:a="http://schemas.openxmlformats.org/drawingml/2006/main" prst="roundRect">
            <a:avLst>
              <a:gd name="adj" fmla="val 11783"/>
            </a:avLst>
          </a:prstGeom>
        </p:spPr>
      </p:sp>
      <p:sp>
        <p:nvSp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EAAC3104-3761-4B60-BF27-9DB79C34457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prstGeom xmlns:a="http://schemas.openxmlformats.org/drawingml/2006/main" prst="roundRect">
            <a:avLst>
              <a:gd name="adj" fmla="val 7254"/>
            </a:avLst>
          </a:prstGeom>
        </p:spPr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prstGeom xmlns:a="http://schemas.openxmlformats.org/drawingml/2006/main" prst="roundRect">
            <a:avLst>
              <a:gd name="adj" fmla="val 10128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2775523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adiness-title">
            <a:extLst xmlns:a="http://schemas.openxmlformats.org/drawingml/2006/main">
              <a:ext uri="{FF2B5EF4-FFF2-40B4-BE49-F238E27FC236}">
                <a16:creationId xmlns:a16="http://schemas.microsoft.com/office/drawing/2014/main" id="{021B619B-9141-4243-A65F-3373EDA3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"/>
            <a:ext cx="2771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СТАТУС MVP</a:t>
            </a:r>
          </a:p>
        </p:txBody>
      </p:sp>
      <p:sp>
        <p:nvSpPr>
          <p:cNvPr id="12" name="readiness-card-title">
            <a:extLst xmlns:a="http://schemas.openxmlformats.org/drawingml/2006/main">
              <a:ext uri="{FF2B5EF4-FFF2-40B4-BE49-F238E27FC236}">
                <a16:creationId xmlns:a16="http://schemas.microsoft.com/office/drawing/2014/main" id="{941A161C-07C2-4CC6-941A-B849A0FF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Сборки готовы</a:t>
            </a:r>
          </a:p>
        </p:txBody>
      </p:sp>
      <p:sp>
        <p:nvSpPr>
          <p:cNvPr id="13" name="readiness-card-body">
            <a:extLst xmlns:a="http://schemas.openxmlformats.org/drawingml/2006/main">
              <a:ext uri="{FF2B5EF4-FFF2-40B4-BE49-F238E27FC236}">
                <a16:creationId xmlns:a16="http://schemas.microsoft.com/office/drawing/2014/main" id="{E5AD10C8-741C-456E-AB8A-7F4C42E5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Release APK подписан локальным ключом.</a:t>
            </a:r>
          </a:p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Пакет, SDK и отсутствие разрешений сверены.</a:t>
            </a:r>
          </a:p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Скриншоты подготовлены в Android Emulator.</a:t>
            </a:r>
          </a:p>
        </p:txBody>
      </p:sp>
      <p:sp>
        <p:nvSpPr>
          <p:cNvPr id="14" name="readiness-card-note">
            <a:extLst xmlns:a="http://schemas.openxmlformats.org/drawingml/2006/main">
              <a:ext uri="{FF2B5EF4-FFF2-40B4-BE49-F238E27FC236}">
                <a16:creationId xmlns:a16="http://schemas.microsoft.com/office/drawing/2014/main" id="{87591D94-E477-4D94-906B-F4CE8647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Сквозная логика не тестировалась.</a:t>
            </a:r>
          </a:p>
        </p:txBody>
      </p:sp>
      <p:sp>
        <p:nvSpPr>
          <p:cNvPr id="15" name="readiness-0-title">
            <a:extLst xmlns:a="http://schemas.openxmlformats.org/drawingml/2006/main">
              <a:ext uri="{FF2B5EF4-FFF2-40B4-BE49-F238E27FC236}">
                <a16:creationId xmlns:a16="http://schemas.microsoft.com/office/drawing/2014/main" id="{7AB1876D-0352-4228-9ADA-603E3FC9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6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Не выполнено</a:t>
            </a:r>
          </a:p>
        </p:txBody>
      </p:sp>
      <p:sp>
        <p:nvSpPr>
          <p:cNvPr id="16" name="readiness-0-body">
            <a:extLst xmlns:a="http://schemas.openxmlformats.org/drawingml/2006/main">
              <a:ext uri="{FF2B5EF4-FFF2-40B4-BE49-F238E27FC236}">
                <a16:creationId xmlns:a16="http://schemas.microsoft.com/office/drawing/2014/main" id="{5D35B432-9CE1-4394-AAA9-34FA32FE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Сквозной прогон обязательного сценария по всем тест-кейсам.</a:t>
            </a:r>
          </a:p>
        </p:txBody>
      </p:sp>
      <p:sp>
        <p:nvSpPr>
          <p:cNvPr id="17" name="readiness-1-title">
            <a:extLst xmlns:a="http://schemas.openxmlformats.org/drawingml/2006/main">
              <a:ext uri="{FF2B5EF4-FFF2-40B4-BE49-F238E27FC236}">
                <a16:creationId xmlns:a16="http://schemas.microsoft.com/office/drawing/2014/main" id="{0912A803-5E82-49EA-AF6A-B39026BD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57525"/>
            <a:ext cx="516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Нужно устройство</a:t>
            </a:r>
          </a:p>
        </p:txBody>
      </p:sp>
      <p:sp>
        <p:nvSpPr>
          <p:cNvPr id="18" name="readiness-1-body">
            <a:extLst xmlns:a="http://schemas.openxmlformats.org/drawingml/2006/main">
              <a:ext uri="{FF2B5EF4-FFF2-40B4-BE49-F238E27FC236}">
                <a16:creationId xmlns:a16="http://schemas.microsoft.com/office/drawing/2014/main" id="{42DE9461-6471-4871-91D0-324F61F9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57575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Проверка установки и сценария на физическом Android 8.0+; отчёт указать в финальной сдаче.</a:t>
            </a:r>
          </a:p>
        </p:txBody>
      </p:sp>
      <p:sp>
        <p:nvSpPr>
          <p:cNvPr id="19" name="readiness-2-title">
            <a:extLst xmlns:a="http://schemas.openxmlformats.org/drawingml/2006/main">
              <a:ext uri="{FF2B5EF4-FFF2-40B4-BE49-F238E27FC236}">
                <a16:creationId xmlns:a16="http://schemas.microsoft.com/office/drawing/2014/main" id="{24D3EEF8-2A8B-41DD-937D-A54CD24E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516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Нужна публикация</a:t>
            </a:r>
          </a:p>
        </p:txBody>
      </p:sp>
      <p:sp>
        <p:nvSpPr>
          <p:cNvPr id="20" name="readiness-2-body">
            <a:extLst xmlns:a="http://schemas.openxmlformats.org/drawingml/2006/main">
              <a:ext uri="{FF2B5EF4-FFF2-40B4-BE49-F238E27FC236}">
                <a16:creationId xmlns:a16="http://schemas.microsoft.com/office/drawing/2014/main" id="{A0A7329C-1DF1-48E8-AEF9-EEEF1C82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387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92331"/>
                </a:solidFill>
                <a:latin typeface="Montserrat"/>
                <a:ea typeface="Montserrat"/>
                <a:cs typeface="Montserrat"/>
              </a:rPr>
              <a:t>Публичный URL APK или репозитория в локальной передаче отсутствует.</a:t>
            </a:r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2026-09-29T10:56:10.2140000Z</dcterms:created>
  <dcterms:modified xsi:type="dcterms:W3CDTF">2026-09-29T10:56:10.2140000Z</dcterms:modified>
</coreProperties>
</file>